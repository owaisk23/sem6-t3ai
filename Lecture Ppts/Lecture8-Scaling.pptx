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handoutMasterIdLst>
    <p:handoutMasterId r:id="rId18"/>
  </p:handoutMasterIdLst>
  <p:sldIdLst>
    <p:sldId id="256" r:id="rId2"/>
    <p:sldId id="318" r:id="rId3"/>
    <p:sldId id="326" r:id="rId4"/>
    <p:sldId id="299" r:id="rId5"/>
    <p:sldId id="308" r:id="rId6"/>
    <p:sldId id="309" r:id="rId7"/>
    <p:sldId id="319" r:id="rId8"/>
    <p:sldId id="320" r:id="rId9"/>
    <p:sldId id="324" r:id="rId10"/>
    <p:sldId id="321" r:id="rId11"/>
    <p:sldId id="310" r:id="rId12"/>
    <p:sldId id="325" r:id="rId13"/>
    <p:sldId id="322" r:id="rId14"/>
    <p:sldId id="298" r:id="rId15"/>
    <p:sldId id="327" r:id="rId1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5" autoAdjust="0"/>
    <p:restoredTop sz="90747" autoAdjust="0"/>
  </p:normalViewPr>
  <p:slideViewPr>
    <p:cSldViewPr>
      <p:cViewPr varScale="1">
        <p:scale>
          <a:sx n="100" d="100"/>
          <a:sy n="100" d="100"/>
        </p:scale>
        <p:origin x="732" y="90"/>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12/26/2025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12/26/2025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Comparison can be performed between similar entities else it will be biased. Same logic applies to Machine Learning as well. Feature Scaling in Machine Learning brings features to the same scale before we apply any comparison or model building. Normalization and Standardization are the two frequently used techniques of Feature Scaling in Machine Learning.</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a:t>
            </a:fld>
            <a:endParaRPr lang="en-US"/>
          </a:p>
        </p:txBody>
      </p:sp>
    </p:spTree>
    <p:extLst>
      <p:ext uri="{BB962C8B-B14F-4D97-AF65-F5344CB8AC3E}">
        <p14:creationId xmlns:p14="http://schemas.microsoft.com/office/powerpoint/2010/main" val="79723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12/26/2025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12/26/2025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12/26/2025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12/26/2025</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12/26/2025</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12/26/2025</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12/26/2025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12/26/2025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12/26/2025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12/26/2025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12/26/2025</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Feature Scaling</a:t>
            </a:r>
          </a:p>
        </p:txBody>
      </p:sp>
      <p:sp>
        <p:nvSpPr>
          <p:cNvPr id="3" name="Subtitle 2"/>
          <p:cNvSpPr>
            <a:spLocks noGrp="1"/>
          </p:cNvSpPr>
          <p:nvPr>
            <p:ph type="subTitle" idx="1"/>
          </p:nvPr>
        </p:nvSpPr>
        <p:spPr/>
        <p:txBody>
          <a:bodyPr/>
          <a:lstStyle/>
          <a:p>
            <a:r>
              <a:rPr lang="en-US"/>
              <a:t>By Owais Ahmed Khan</a:t>
            </a:r>
            <a:endParaRPr lang="en-US" dirty="0"/>
          </a:p>
        </p:txBody>
      </p:sp>
      <p:pic>
        <p:nvPicPr>
          <p:cNvPr id="4" name="Picture 3"/>
          <p:cNvPicPr>
            <a:picLocks noChangeAspect="1"/>
          </p:cNvPicPr>
          <p:nvPr/>
        </p:nvPicPr>
        <p:blipFill>
          <a:blip r:embed="rId2"/>
          <a:stretch>
            <a:fillRect/>
          </a:stretch>
        </p:blipFill>
        <p:spPr>
          <a:xfrm>
            <a:off x="608012" y="304800"/>
            <a:ext cx="11049000" cy="4533900"/>
          </a:xfrm>
          <a:prstGeom prst="rect">
            <a:avLst/>
          </a:prstGeom>
        </p:spPr>
      </p:pic>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t>Question?</a:t>
            </a:r>
          </a:p>
        </p:txBody>
      </p:sp>
      <p:sp>
        <p:nvSpPr>
          <p:cNvPr id="3" name="Content Placeholder 2"/>
          <p:cNvSpPr>
            <a:spLocks noGrp="1"/>
          </p:cNvSpPr>
          <p:nvPr>
            <p:ph idx="1"/>
          </p:nvPr>
        </p:nvSpPr>
        <p:spPr/>
        <p:txBody>
          <a:bodyPr>
            <a:normAutofit/>
          </a:bodyPr>
          <a:lstStyle/>
          <a:p>
            <a:r>
              <a:rPr lang="en-US" sz="7200" dirty="0"/>
              <a:t>Can we compare </a:t>
            </a:r>
            <a:r>
              <a:rPr lang="en-US" sz="7200" dirty="0" err="1"/>
              <a:t>Virat</a:t>
            </a:r>
            <a:r>
              <a:rPr lang="en-US" sz="7200" dirty="0"/>
              <a:t> </a:t>
            </a:r>
            <a:r>
              <a:rPr lang="en-US" sz="7200" dirty="0" err="1"/>
              <a:t>kohli’s</a:t>
            </a:r>
            <a:r>
              <a:rPr lang="en-US" sz="7200" dirty="0"/>
              <a:t> batting and </a:t>
            </a:r>
            <a:r>
              <a:rPr lang="en-US" sz="7200" dirty="0" err="1"/>
              <a:t>Shaheen</a:t>
            </a:r>
            <a:r>
              <a:rPr lang="en-US" sz="7200" dirty="0"/>
              <a:t> </a:t>
            </a:r>
            <a:r>
              <a:rPr lang="en-US" sz="7200" dirty="0" err="1"/>
              <a:t>Afridi’s</a:t>
            </a:r>
            <a:r>
              <a:rPr lang="en-US" sz="7200" dirty="0"/>
              <a:t> batting?</a:t>
            </a:r>
          </a:p>
        </p:txBody>
      </p:sp>
    </p:spTree>
    <p:extLst>
      <p:ext uri="{BB962C8B-B14F-4D97-AF65-F5344CB8AC3E}">
        <p14:creationId xmlns:p14="http://schemas.microsoft.com/office/powerpoint/2010/main" val="233523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Feature Scaling?</a:t>
            </a:r>
            <a:endParaRPr lang="en-US" dirty="0"/>
          </a:p>
        </p:txBody>
      </p:sp>
      <p:sp>
        <p:nvSpPr>
          <p:cNvPr id="3" name="Content Placeholder 2"/>
          <p:cNvSpPr>
            <a:spLocks noGrp="1"/>
          </p:cNvSpPr>
          <p:nvPr>
            <p:ph idx="1"/>
          </p:nvPr>
        </p:nvSpPr>
        <p:spPr/>
        <p:txBody>
          <a:bodyPr/>
          <a:lstStyle/>
          <a:p>
            <a:r>
              <a:rPr lang="en-US" dirty="0"/>
              <a:t>A method to scale numeric features in the same scale or range.</a:t>
            </a:r>
          </a:p>
          <a:p>
            <a:r>
              <a:rPr lang="en-US" dirty="0"/>
              <a:t>This is the last step of the feature engineering pipeline.</a:t>
            </a:r>
          </a:p>
          <a:p>
            <a:r>
              <a:rPr lang="en-US" dirty="0"/>
              <a:t>We apply feature scaling on independent variables</a:t>
            </a:r>
          </a:p>
          <a:p>
            <a:r>
              <a:rPr lang="en-US" dirty="0"/>
              <a:t>We fit the feature scaling with train data and transform on train and test data.</a:t>
            </a:r>
          </a:p>
        </p:txBody>
      </p:sp>
    </p:spTree>
    <p:extLst>
      <p:ext uri="{BB962C8B-B14F-4D97-AF65-F5344CB8AC3E}">
        <p14:creationId xmlns:p14="http://schemas.microsoft.com/office/powerpoint/2010/main" val="80256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Feature Scaling?</a:t>
            </a:r>
          </a:p>
        </p:txBody>
      </p:sp>
      <p:sp>
        <p:nvSpPr>
          <p:cNvPr id="3" name="Content Placeholder 2"/>
          <p:cNvSpPr>
            <a:spLocks noGrp="1"/>
          </p:cNvSpPr>
          <p:nvPr>
            <p:ph idx="1"/>
          </p:nvPr>
        </p:nvSpPr>
        <p:spPr>
          <a:xfrm>
            <a:off x="150812" y="1905000"/>
            <a:ext cx="11430000" cy="4724400"/>
          </a:xfrm>
        </p:spPr>
        <p:txBody>
          <a:bodyPr>
            <a:noAutofit/>
          </a:bodyPr>
          <a:lstStyle/>
          <a:p>
            <a:r>
              <a:rPr lang="en-US" dirty="0"/>
              <a:t>In general Data set contains different types of variables having different magnitude and units (kilograms, grams, Age in years, salary in thousands </a:t>
            </a:r>
            <a:r>
              <a:rPr lang="en-US" dirty="0" err="1"/>
              <a:t>etc</a:t>
            </a:r>
            <a:r>
              <a:rPr lang="en-US" dirty="0"/>
              <a:t>).</a:t>
            </a:r>
          </a:p>
          <a:p>
            <a:r>
              <a:rPr lang="en-US" dirty="0"/>
              <a:t>The significant issue with variables is that they might differ in terms of range of values.</a:t>
            </a:r>
          </a:p>
          <a:p>
            <a:r>
              <a:rPr lang="en-US" dirty="0"/>
              <a:t>So the feature with large range of values will start dominating against other variables.</a:t>
            </a:r>
          </a:p>
          <a:p>
            <a:r>
              <a:rPr lang="en-US" dirty="0"/>
              <a:t>Models could be biased towards those high ranged features.</a:t>
            </a:r>
          </a:p>
          <a:p>
            <a:r>
              <a:rPr lang="en-US" dirty="0"/>
              <a:t>So to overcome this problem, we do feature scaling.</a:t>
            </a:r>
          </a:p>
          <a:p>
            <a:r>
              <a:rPr lang="en-US" dirty="0"/>
              <a:t>The goal of applying Feature Scaling is to make sure features are on almost the same scale so that each feature is equally important and make it easier to process by most ML algorithms.</a:t>
            </a:r>
          </a:p>
        </p:txBody>
      </p:sp>
    </p:spTree>
    <p:extLst>
      <p:ext uri="{BB962C8B-B14F-4D97-AF65-F5344CB8AC3E}">
        <p14:creationId xmlns:p14="http://schemas.microsoft.com/office/powerpoint/2010/main" val="322096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Why and how high range of features impact model performance?</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1012" y="1981200"/>
            <a:ext cx="8610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2664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and how high range of features impact model performance?</a:t>
            </a:r>
            <a:endParaRPr lang="en-US" dirty="0"/>
          </a:p>
        </p:txBody>
      </p:sp>
      <p:sp>
        <p:nvSpPr>
          <p:cNvPr id="3" name="Content Placeholder 2"/>
          <p:cNvSpPr>
            <a:spLocks noGrp="1"/>
          </p:cNvSpPr>
          <p:nvPr>
            <p:ph idx="1"/>
          </p:nvPr>
        </p:nvSpPr>
        <p:spPr/>
        <p:txBody>
          <a:bodyPr>
            <a:normAutofit fontScale="92500"/>
          </a:bodyPr>
          <a:lstStyle/>
          <a:p>
            <a:r>
              <a:rPr lang="en-US" dirty="0"/>
              <a:t>In the table both Age and Salary have different range of values. </a:t>
            </a:r>
          </a:p>
          <a:p>
            <a:r>
              <a:rPr lang="en-US" dirty="0"/>
              <a:t>So when we train a model it might give high importance to salary column just because the high range of values. </a:t>
            </a:r>
          </a:p>
          <a:p>
            <a:r>
              <a:rPr lang="en-US" dirty="0"/>
              <a:t>However it could not be the case and both columns have equal or near to equal impact on target variable which could be based on age and salary whether a person will buy a house or not. </a:t>
            </a:r>
          </a:p>
          <a:p>
            <a:r>
              <a:rPr lang="en-US" dirty="0"/>
              <a:t>So in case of buying a house both age and salary have equal importance. </a:t>
            </a:r>
          </a:p>
          <a:p>
            <a:r>
              <a:rPr lang="en-US" dirty="0"/>
              <a:t>We need to do the feature scaling.</a:t>
            </a:r>
          </a:p>
          <a:p>
            <a:pPr marL="0" indent="0">
              <a:buNone/>
            </a:pPr>
            <a:br>
              <a:rPr lang="en-US" dirty="0"/>
            </a:br>
            <a:endParaRPr lang="en-US" dirty="0"/>
          </a:p>
        </p:txBody>
      </p:sp>
    </p:spTree>
    <p:extLst>
      <p:ext uri="{BB962C8B-B14F-4D97-AF65-F5344CB8AC3E}">
        <p14:creationId xmlns:p14="http://schemas.microsoft.com/office/powerpoint/2010/main" val="23733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Feature Scaling Techniques</a:t>
            </a:r>
            <a:endParaRPr lang="en-US" dirty="0"/>
          </a:p>
        </p:txBody>
      </p:sp>
      <p:sp>
        <p:nvSpPr>
          <p:cNvPr id="3" name="Content Placeholder 2"/>
          <p:cNvSpPr>
            <a:spLocks noGrp="1"/>
          </p:cNvSpPr>
          <p:nvPr>
            <p:ph idx="1"/>
          </p:nvPr>
        </p:nvSpPr>
        <p:spPr/>
        <p:txBody>
          <a:bodyPr>
            <a:normAutofit/>
          </a:bodyPr>
          <a:lstStyle/>
          <a:p>
            <a:pPr marL="0" indent="0">
              <a:buNone/>
            </a:pPr>
            <a:r>
              <a:rPr lang="en-US" dirty="0"/>
              <a:t>There are two mostly used feature scaling techniques.</a:t>
            </a:r>
          </a:p>
          <a:p>
            <a:r>
              <a:rPr lang="en-US" dirty="0"/>
              <a:t>Normalization</a:t>
            </a:r>
          </a:p>
          <a:p>
            <a:r>
              <a:rPr lang="en-US" dirty="0"/>
              <a:t>Standardization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8612" y="2524125"/>
            <a:ext cx="5705475"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1452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Normalization</a:t>
            </a:r>
            <a:endParaRPr lang="en-US" dirty="0"/>
          </a:p>
        </p:txBody>
      </p:sp>
      <p:sp>
        <p:nvSpPr>
          <p:cNvPr id="3" name="Content Placeholder 2"/>
          <p:cNvSpPr>
            <a:spLocks noGrp="1"/>
          </p:cNvSpPr>
          <p:nvPr>
            <p:ph idx="1"/>
          </p:nvPr>
        </p:nvSpPr>
        <p:spPr/>
        <p:txBody>
          <a:bodyPr/>
          <a:lstStyle/>
          <a:p>
            <a:r>
              <a:rPr lang="en-US" dirty="0"/>
              <a:t>Normalization is also known as min-max normalization or min-max scaling.</a:t>
            </a:r>
          </a:p>
          <a:p>
            <a:r>
              <a:rPr lang="en-US" dirty="0"/>
              <a:t>Normalization re-scales values in the range of 0-1</a:t>
            </a:r>
          </a:p>
          <a:p>
            <a:r>
              <a:rPr lang="en-US" dirty="0"/>
              <a:t>Normalization is good to use when your data does not follow a Normal distribution.</a:t>
            </a:r>
          </a:p>
          <a:p>
            <a:pPr marL="0" indent="0">
              <a:buNone/>
            </a:pPr>
            <a:endParaRPr lang="en-US" dirty="0"/>
          </a:p>
        </p:txBody>
      </p:sp>
    </p:spTree>
    <p:extLst>
      <p:ext uri="{BB962C8B-B14F-4D97-AF65-F5344CB8AC3E}">
        <p14:creationId xmlns:p14="http://schemas.microsoft.com/office/powerpoint/2010/main" val="98899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55" y="1371600"/>
            <a:ext cx="816292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355" y="1895475"/>
            <a:ext cx="3771900" cy="3319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93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 y="228600"/>
            <a:ext cx="118872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778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US" sz="3600" b="1" dirty="0">
                <a:solidFill>
                  <a:schemeClr val="tx1"/>
                </a:solidFill>
              </a:rPr>
              <a:t>Standardization</a:t>
            </a:r>
            <a:endParaRPr lang="en-US" sz="3600" dirty="0">
              <a:solidFill>
                <a:schemeClr val="tx1"/>
              </a:solidFill>
            </a:endParaRPr>
          </a:p>
        </p:txBody>
      </p:sp>
      <p:sp>
        <p:nvSpPr>
          <p:cNvPr id="3" name="Content Placeholder 2"/>
          <p:cNvSpPr>
            <a:spLocks noGrp="1"/>
          </p:cNvSpPr>
          <p:nvPr>
            <p:ph idx="1"/>
          </p:nvPr>
        </p:nvSpPr>
        <p:spPr/>
        <p:txBody>
          <a:bodyPr>
            <a:normAutofit lnSpcReduction="10000"/>
          </a:bodyPr>
          <a:lstStyle/>
          <a:p>
            <a:r>
              <a:rPr lang="en-US" sz="2800" dirty="0"/>
              <a:t>Standardization</a:t>
            </a:r>
            <a:r>
              <a:rPr lang="en-US" sz="2800" b="1" dirty="0"/>
              <a:t> </a:t>
            </a:r>
            <a:r>
              <a:rPr lang="en-US" sz="2800" dirty="0"/>
              <a:t>or Z-Score Normalization is one of the feature scaling techniques, here the transformation of features is done by subtracting from the mean and dividing by standard deviation. </a:t>
            </a:r>
          </a:p>
          <a:p>
            <a:r>
              <a:rPr lang="en-US" sz="2800" dirty="0"/>
              <a:t>This is often called Z-score normalization. </a:t>
            </a:r>
          </a:p>
          <a:p>
            <a:r>
              <a:rPr lang="en-US" sz="2800" dirty="0"/>
              <a:t>The resulting data will have the </a:t>
            </a:r>
            <a:r>
              <a:rPr lang="en-US" sz="2800" b="1" dirty="0"/>
              <a:t>mean as 0 and the standard deviation as 1.</a:t>
            </a:r>
            <a:endParaRPr lang="en-US" sz="2800" dirty="0"/>
          </a:p>
          <a:p>
            <a:r>
              <a:rPr lang="en-US" sz="2800" dirty="0"/>
              <a:t>Standardization, can be helpful in cases where the data follows a Normal distribution. </a:t>
            </a:r>
            <a:br>
              <a:rPr lang="en-US" sz="2800" dirty="0"/>
            </a:br>
            <a:endParaRPr lang="en-US" sz="2800" dirty="0"/>
          </a:p>
        </p:txBody>
      </p:sp>
    </p:spTree>
    <p:extLst>
      <p:ext uri="{BB962C8B-B14F-4D97-AF65-F5344CB8AC3E}">
        <p14:creationId xmlns:p14="http://schemas.microsoft.com/office/powerpoint/2010/main" val="20210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 y="381000"/>
            <a:ext cx="61722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012" y="1981200"/>
            <a:ext cx="51816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337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solidFill>
                <a:srgbClr val="FFC000"/>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12" y="55725"/>
            <a:ext cx="11353800" cy="649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755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002" y="0"/>
            <a:ext cx="12264827" cy="6858000"/>
          </a:xfrm>
        </p:spPr>
      </p:pic>
    </p:spTree>
    <p:extLst>
      <p:ext uri="{BB962C8B-B14F-4D97-AF65-F5344CB8AC3E}">
        <p14:creationId xmlns:p14="http://schemas.microsoft.com/office/powerpoint/2010/main" val="2298469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ML algorithms required feature scaling?</a:t>
            </a:r>
          </a:p>
        </p:txBody>
      </p:sp>
      <p:sp>
        <p:nvSpPr>
          <p:cNvPr id="3" name="Content Placeholder 2"/>
          <p:cNvSpPr>
            <a:spLocks noGrp="1"/>
          </p:cNvSpPr>
          <p:nvPr>
            <p:ph idx="1"/>
          </p:nvPr>
        </p:nvSpPr>
        <p:spPr/>
        <p:txBody>
          <a:bodyPr/>
          <a:lstStyle/>
          <a:p>
            <a:r>
              <a:rPr lang="en-US" dirty="0"/>
              <a:t>KNN</a:t>
            </a:r>
          </a:p>
          <a:p>
            <a:r>
              <a:rPr lang="en-US" dirty="0"/>
              <a:t>K- means</a:t>
            </a:r>
          </a:p>
          <a:p>
            <a:r>
              <a:rPr lang="en-US" dirty="0"/>
              <a:t>SVM</a:t>
            </a:r>
          </a:p>
          <a:p>
            <a:r>
              <a:rPr lang="en-US" dirty="0"/>
              <a:t>PCA</a:t>
            </a:r>
          </a:p>
          <a:p>
            <a:r>
              <a:rPr lang="en-US" dirty="0"/>
              <a:t>Gradient descent based algorithms (linear regression , logistic regression, NN)</a:t>
            </a:r>
          </a:p>
        </p:txBody>
      </p:sp>
    </p:spTree>
    <p:extLst>
      <p:ext uri="{BB962C8B-B14F-4D97-AF65-F5344CB8AC3E}">
        <p14:creationId xmlns:p14="http://schemas.microsoft.com/office/powerpoint/2010/main" val="288299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f02804846_win32">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tf02804846_win32</Template>
  <TotalTime>24148</TotalTime>
  <Words>446</Words>
  <Application>Microsoft Office PowerPoint</Application>
  <PresentationFormat>Custom</PresentationFormat>
  <Paragraphs>46</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Consolas</vt:lpstr>
      <vt:lpstr>Corbel</vt:lpstr>
      <vt:lpstr>tf02804846_win32</vt:lpstr>
      <vt:lpstr>Feature Scaling</vt:lpstr>
      <vt:lpstr>Question?</vt:lpstr>
      <vt:lpstr>What is Feature Scaling?</vt:lpstr>
      <vt:lpstr>What is Feature Scaling?</vt:lpstr>
      <vt:lpstr>Why and how high range of features impact model performance?</vt:lpstr>
      <vt:lpstr>Why and how high range of features impact model performance?</vt:lpstr>
      <vt:lpstr>Feature Scaling Techniques</vt:lpstr>
      <vt:lpstr>Normalization</vt:lpstr>
      <vt:lpstr>Example</vt:lpstr>
      <vt:lpstr>PowerPoint Presentation</vt:lpstr>
      <vt:lpstr>Standardization</vt:lpstr>
      <vt:lpstr>PowerPoint Presentation</vt:lpstr>
      <vt:lpstr>PowerPoint Presentation</vt:lpstr>
      <vt:lpstr>PowerPoint Presentation</vt:lpstr>
      <vt:lpstr>Which ML algorithms required feature scaling?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dc:title>
  <dc:creator>Yusuf</dc:creator>
  <cp:lastModifiedBy>D-19F-BSCS-31@students.duet.edu.pk</cp:lastModifiedBy>
  <cp:revision>248</cp:revision>
  <dcterms:created xsi:type="dcterms:W3CDTF">2022-07-17T19:29:43Z</dcterms:created>
  <dcterms:modified xsi:type="dcterms:W3CDTF">2025-12-26T14:24:48Z</dcterms:modified>
</cp:coreProperties>
</file>